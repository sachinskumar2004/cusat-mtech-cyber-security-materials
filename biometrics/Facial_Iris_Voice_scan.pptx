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6197" autoAdjust="0"/>
  </p:normalViewPr>
  <p:slideViewPr>
    <p:cSldViewPr snapToGrid="0" snapToObjects="1">
      <p:cViewPr varScale="1">
        <p:scale>
          <a:sx n="55" d="100"/>
          <a:sy n="55" d="100"/>
        </p:scale>
        <p:origin x="1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624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biometrics/icon_ey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8046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23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&amp; BEHAVIORAL BIOMETRICS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Facial-Scan, Iris-Scan &amp; Voice-Scan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" y="44348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86374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capture · Deep-learning matching · Liveness &amp; spoofing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These Modalities Fit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4F7FE"/>
          </a:solidFill>
          <a:ln/>
          <a:effectLst>
            <a:outerShdw blurRad="101600" dist="25400" dir="5400000" algn="bl" rotWithShape="0">
              <a:srgbClr val="5A6B8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biometrics/icon_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2439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3218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Facial-Scan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3703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stable facial geometry and texture — bone structure, skin texture, feature layout.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51960" y="17373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4F7FE"/>
          </a:solidFill>
          <a:ln/>
          <a:effectLst>
            <a:outerShdw blurRad="101600" dist="25400" dir="5400000" algn="bl" rotWithShape="0">
              <a:srgbClr val="5A6B8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biometrics/icon_ey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538" y="224393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0" y="3218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Iris-Scan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72000" y="3703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fixed, chaotic texture of the iris — formed in the womb and stable for life.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55280" y="173736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4F7FE"/>
          </a:solidFill>
          <a:ln/>
          <a:effectLst>
            <a:outerShdw blurRad="101600" dist="25400" dir="5400000" algn="bl" rotWithShape="0">
              <a:srgbClr val="5A6B8C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biometrics/icon_mic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1858" y="224393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75320" y="3218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Voice-Scan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275320" y="3703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vocal-tract shape blended with behavioral speech habits — accent, cadence, pronunciation.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3" descr="/home/claude/biometrics/icon_shield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557235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53492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all three support contactless / remote capture — a major benefit over fingerprint or hand-geometry systems that need physical sensor contact.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FACIAL-SCAN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Facial Recognition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691640" cy="3017520"/>
          </a:xfrm>
          <a:prstGeom prst="roundRect">
            <a:avLst>
              <a:gd name="adj" fmla="val 5405"/>
            </a:avLst>
          </a:prstGeom>
          <a:solidFill>
            <a:srgbClr val="FDEDEB"/>
          </a:solidFill>
          <a:ln/>
        </p:spPr>
      </p:sp>
      <p:sp>
        <p:nvSpPr>
          <p:cNvPr id="5" name="Shape 3"/>
          <p:cNvSpPr/>
          <p:nvPr/>
        </p:nvSpPr>
        <p:spPr>
          <a:xfrm>
            <a:off x="1138428" y="21488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138428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14721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RGB, NIR, or structured-light/depth cameras capture the face.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21992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386584" y="1965960"/>
            <a:ext cx="1691640" cy="3017520"/>
          </a:xfrm>
          <a:prstGeom prst="roundRect">
            <a:avLst>
              <a:gd name="adj" fmla="val 5405"/>
            </a:avLst>
          </a:prstGeom>
          <a:solidFill>
            <a:srgbClr val="FBF6E9"/>
          </a:solidFill>
          <a:ln/>
        </p:spPr>
      </p:sp>
      <p:sp>
        <p:nvSpPr>
          <p:cNvPr id="11" name="Shape 9"/>
          <p:cNvSpPr/>
          <p:nvPr/>
        </p:nvSpPr>
        <p:spPr>
          <a:xfrm>
            <a:off x="2976372" y="21488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2976372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78024" y="2834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96312" y="3246120"/>
            <a:ext cx="14721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face region — legacy Viola–Jones, modern CNNs (MTCNN, RetinaFace).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59936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24528" y="1965960"/>
            <a:ext cx="1691640" cy="3017520"/>
          </a:xfrm>
          <a:prstGeom prst="roundRect">
            <a:avLst>
              <a:gd name="adj" fmla="val 5405"/>
            </a:avLst>
          </a:prstGeom>
          <a:solidFill>
            <a:srgbClr val="FDED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814316" y="21488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4814316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15968" y="2834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34256" y="3246120"/>
            <a:ext cx="14721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pose, scale &amp; rotation using landmarks (eyes, nose, mouth).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062472" y="1965960"/>
            <a:ext cx="1691640" cy="3017520"/>
          </a:xfrm>
          <a:prstGeom prst="roundRect">
            <a:avLst>
              <a:gd name="adj" fmla="val 5405"/>
            </a:avLst>
          </a:prstGeom>
          <a:solidFill>
            <a:srgbClr val="FBF6E9"/>
          </a:solidFill>
          <a:ln/>
        </p:spPr>
      </p:sp>
      <p:sp>
        <p:nvSpPr>
          <p:cNvPr id="23" name="Shape 21"/>
          <p:cNvSpPr/>
          <p:nvPr/>
        </p:nvSpPr>
        <p:spPr>
          <a:xfrm>
            <a:off x="6652260" y="21488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6652260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53912" y="2834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3246120"/>
            <a:ext cx="14721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aligned face into a compact embedding vector.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35824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00416" y="1965960"/>
            <a:ext cx="1691640" cy="3017520"/>
          </a:xfrm>
          <a:prstGeom prst="roundRect">
            <a:avLst>
              <a:gd name="adj" fmla="val 5405"/>
            </a:avLst>
          </a:prstGeom>
          <a:solidFill>
            <a:srgbClr val="FDEDEB"/>
          </a:solidFill>
          <a:ln/>
        </p:spPr>
      </p:sp>
      <p:sp>
        <p:nvSpPr>
          <p:cNvPr id="29" name="Shape 27"/>
          <p:cNvSpPr/>
          <p:nvPr/>
        </p:nvSpPr>
        <p:spPr>
          <a:xfrm>
            <a:off x="8490204" y="21488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0" name="Text 28"/>
          <p:cNvSpPr/>
          <p:nvPr/>
        </p:nvSpPr>
        <p:spPr>
          <a:xfrm>
            <a:off x="8490204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991856" y="2834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&amp; Match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10144" y="3246120"/>
            <a:ext cx="14721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embedding (128–512-D); compare via cosine/Euclidean distance.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73768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738360" y="1965960"/>
            <a:ext cx="1691640" cy="3017520"/>
          </a:xfrm>
          <a:prstGeom prst="roundRect">
            <a:avLst>
              <a:gd name="adj" fmla="val 5405"/>
            </a:avLst>
          </a:prstGeom>
          <a:solidFill>
            <a:srgbClr val="FBF6E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28148" y="21488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6" name="Text 34"/>
          <p:cNvSpPr/>
          <p:nvPr/>
        </p:nvSpPr>
        <p:spPr>
          <a:xfrm>
            <a:off x="10328148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829800" y="28346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848088" y="3246120"/>
            <a:ext cx="14721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against a similarity threshold.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B85042"/>
          </a:solidFill>
          <a:ln/>
        </p:spPr>
      </p:sp>
      <p:sp>
        <p:nvSpPr>
          <p:cNvPr id="40" name="Shape 38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0" descr="/home/claude/biometrics/icon_layers_B850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5572354"/>
            <a:ext cx="285293" cy="285293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508760" y="53492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 turn a raw image into an accept/reject decision — the same architecture underlies almost every modern face-recognition product.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FACIAL-SCAN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Facial Recognition Approaches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00681"/>
            <a:ext cx="11109960" cy="804672"/>
          </a:xfrm>
          <a:prstGeom prst="roundRect">
            <a:avLst>
              <a:gd name="adj" fmla="val 7500"/>
            </a:avLst>
          </a:prstGeom>
          <a:solidFill>
            <a:srgbClr val="F4F7F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(Feature-Based)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20440" y="16916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 smtClean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Legaacy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Distances/angles between landmarks (eye spacing, jaw length).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1691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 — but low accuracy; abandoned since early 2000s.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3288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— Eigenfaces / Fisherfaces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53288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53288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LDA on the whole face image as a high-dimensional vector.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0" y="253288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Fisherfaces improved lighting robustness over Eigenfaces.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F4F7F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7413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Binary Patterns (LBP)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3374136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3374136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local micro-texture around each pixel.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3374136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robust; used in earlier commercial systems.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15384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 Embeddings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4215384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4215384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Metric-learning losses (Triplet, ArcFace, CosFace) map faces to embedding space.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421538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of nearly all modern systems — e.g. Face ID, FaceNet-style nets.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056632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F4F7F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0566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/ Depth Sensing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20440" y="505663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505663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Structured-light or ToF sensors build a depth map of the face.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12480" y="505663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Defeats flat photo/video spoofing; used in Apple TrueDepth.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FACIAL-SCAN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Weaknesses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2FB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3E8E5A"/>
          </a:solidFill>
          <a:ln/>
        </p:spPr>
      </p:sp>
      <p:pic>
        <p:nvPicPr>
          <p:cNvPr id="6" name="Image 0" descr="/home/claude/biometrics/icon_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1323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&amp; remote — captures at a distance without cooperation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widely available RGB camera hardware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user acceptance — feels natural, non-invasive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Millisecond-speed CNN embedding matching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both 1:1 verification and 1:N watchlist screening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DF1F0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biometrics/icon_cros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213238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22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pose, illumination, expression &amp; occlusion ("PIE")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degrades accuracy without re-enrollment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Spoofable by photo/video/deepfake without liveness checks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demographic bias across skin tone, gender, age (NIST)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Covert, distance capture raises privacy &amp; surveillance concerns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521208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B85042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537667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biometrics/icon_camera_B850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524" y="5503956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21208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without hardware or software liveness checks, 2D facial recognition remains the most spoofable of the three modalities.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IRIS-SCAN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 Anatomy &amp; System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biometrics/icon_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1305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Iris?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iris's trabecular meshwork, crypts, furrows, freckles, and collarette form through chaotic fetal morphogenesis — making the pattern essentially unique, even between identical twins and between a person's own two eyes.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416052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border control (UAE, India's Aadhaar), high-security facility access, and refugee identification (UNHCR) — widely regarded as the most accurate mainstream biometric.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0" y="1691640"/>
            <a:ext cx="571500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11" name="Shape 8"/>
          <p:cNvSpPr/>
          <p:nvPr/>
        </p:nvSpPr>
        <p:spPr>
          <a:xfrm>
            <a:off x="6080760" y="1920240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92240" y="169164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46720" y="1691640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camera (~700–900nm) — reveals texture even in dark irises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43600" y="2551176"/>
            <a:ext cx="5715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080760" y="2779776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6080760" y="2779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92240" y="2551176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46720" y="2551176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pupil &amp; limbus boundaries (Daugman operator / Hough)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943600" y="3410712"/>
            <a:ext cx="571500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21" name="Shape 18"/>
          <p:cNvSpPr/>
          <p:nvPr/>
        </p:nvSpPr>
        <p:spPr>
          <a:xfrm>
            <a:off x="6080760" y="3639312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19"/>
          <p:cNvSpPr/>
          <p:nvPr/>
        </p:nvSpPr>
        <p:spPr>
          <a:xfrm>
            <a:off x="6080760" y="3639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92240" y="3410712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3410712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Daugman's Rubber Sheet Model unwraps ring → rectangle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943600" y="4270248"/>
            <a:ext cx="5715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6080760" y="449884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4"/>
          <p:cNvSpPr/>
          <p:nvPr/>
        </p:nvSpPr>
        <p:spPr>
          <a:xfrm>
            <a:off x="6080760" y="4498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92240" y="4270248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046720" y="4270248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Gabor wavelets → binary IrisCode (~2048 bits)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943600" y="5129784"/>
            <a:ext cx="571500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/>
        </p:spPr>
      </p:sp>
      <p:sp>
        <p:nvSpPr>
          <p:cNvPr id="31" name="Shape 28"/>
          <p:cNvSpPr/>
          <p:nvPr/>
        </p:nvSpPr>
        <p:spPr>
          <a:xfrm>
            <a:off x="6080760" y="5358384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29"/>
          <p:cNvSpPr/>
          <p:nvPr/>
        </p:nvSpPr>
        <p:spPr>
          <a:xfrm>
            <a:off x="6080760" y="5358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92240" y="5129784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046720" y="5129784"/>
            <a:ext cx="3520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Distance between IrisCodes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IRIS-SCAN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Daugman's Method — The Industry Standard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6537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653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pupil and limbus circular boundaries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F4F7FE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64261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6426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14600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Unwrap the iris ring into polar coordinates using the Rubber Sheet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EA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41985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19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291840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Convolve with 2D Gabor wavelets to extract phase (amplitude is discarded — illumination-sensitive)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F4F7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19709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1970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phase into 2 bits/pixel → binary IrisCode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EA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97433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9743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846320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IrisCodes via Hamming Distance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1737360"/>
            <a:ext cx="3977640" cy="397764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1488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0.01%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7863840" y="3063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Equal Error Rate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3611880"/>
            <a:ext cx="2514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379476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matches cluster near 0 Hamming Distance; impostor pairs cluster near 0.5 (random agreement) — giving iris recognition one of the widest genuine/impostor separations of any biometric.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IRIS-SCAN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Weaknesses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2FB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3E8E5A"/>
          </a:solidFill>
          <a:ln/>
        </p:spPr>
      </p:sp>
      <p:pic>
        <p:nvPicPr>
          <p:cNvPr id="6" name="Image 0" descr="/home/claude/biometrics/icon_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1323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 accuracy — EER often below 0.01%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for life — fixed after ~1 year of age, doesn't age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feature space → low false-accept even at billion-scale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— no hygiene concerns unlike fingerprint</a:t>
            </a:r>
            <a:endParaRPr lang="en-US" sz="1200" dirty="0" smtClean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surgically alter without obvious vision damage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DF1F0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biometrics/icon_cros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213238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22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cooperation — fixed distance, must hold still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Costlier specialized NIR hardware vs. standard RGB cameras</a:t>
            </a:r>
            <a:endParaRPr lang="en-US" sz="1200" dirty="0" smtClean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by cataracts, some eye surgeries/diseases</a:t>
            </a:r>
            <a:endParaRPr lang="en-US" sz="1200" dirty="0" smtClean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contact lenses are a known spoofing vector</a:t>
            </a:r>
            <a:endParaRPr lang="en-US" sz="1200" dirty="0" smtClean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for occlusion (eyelashes, drooping lids)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521208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537667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biometrics/icon_eye_065A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524" y="5503956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21208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iris trades convenience for accuracy — the best choice when error rate matters more than speed of capture.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VOICE-SCAN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Speaker Recognition: Overview &amp;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109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Voice-scan verifies or identifies a speaker by combining physiological factors (vocal-tract, larynx, and nasal-cavity shape → resonant/formant frequencies) with behavioral factors (speaking rate, intonation, accent) — the clearest hybrid biometric of the three.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109960" cy="621792"/>
          </a:xfrm>
          <a:prstGeom prst="roundRect">
            <a:avLst>
              <a:gd name="adj" fmla="val 8824"/>
            </a:avLst>
          </a:prstGeom>
          <a:solidFill>
            <a:srgbClr val="F1F7E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606040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06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0" y="251460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captures speech — phone, smartphone, or array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11109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319272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19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22783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0" y="3227832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reduction, voice-activity detection, pre-emphasis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41064"/>
            <a:ext cx="11109960" cy="621792"/>
          </a:xfrm>
          <a:prstGeom prst="roundRect">
            <a:avLst>
              <a:gd name="adj" fmla="val 8824"/>
            </a:avLst>
          </a:prstGeom>
          <a:solidFill>
            <a:srgbClr val="F1F7E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032504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32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94106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40480" y="3941064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MFCCs (dominant), LPC, or formant frequencies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111099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745736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7457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65429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Modeling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40480" y="4654296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GMM-UBM → i-vectors → x-vectors/d-vectors (DNN)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367528"/>
            <a:ext cx="11109960" cy="621792"/>
          </a:xfrm>
          <a:prstGeom prst="roundRect">
            <a:avLst>
              <a:gd name="adj" fmla="val 8824"/>
            </a:avLst>
          </a:prstGeom>
          <a:solidFill>
            <a:srgbClr val="F1F7EF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458968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4589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536752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840480" y="5367528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PLDA or cosine similarity on embeddings vs. threshold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VOICE-SCAN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Types &amp; the Rise of DNN Embeddings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1F7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47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Text-Dependent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Fixed/prompted phrase ("My voice is my password")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Banking IVR, wake-word verification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1F7E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3697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Text-Independent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5844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speech content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Call-center fraud detection, forensics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517136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1F7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2686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Text-Prompted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9743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challenge phrase each session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367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Anti-replay-attack security systems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SPEAKER MODELING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116836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8FA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17627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09560" y="2176272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GMM-UBM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0" y="217627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Foundational; still used in resource-constrained settings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63640" y="3090672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8FA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163824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Classical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09560" y="3163824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i-vector + PLDA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0" y="3163824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through the early 2010s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63640" y="4078224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DCEEDD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151376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09560" y="4151376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x-vector / d-vector (DNN)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0" y="4151376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robust to noisy/short/mismatched-channel audio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5065776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8FA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513892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09560" y="513892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/ self-supervised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0" y="513892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cross-lingual, cross-device robustness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VOICE-SCAN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Weaknesses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2FB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3E8E5A"/>
          </a:solidFill>
          <a:ln/>
        </p:spPr>
      </p:sp>
      <p:pic>
        <p:nvPicPr>
          <p:cNvPr id="6" name="Image 0" descr="/home/claude/biometrics/icon_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1323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contactless &amp; remote — works over telephone lines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capture — any standard microphone suffices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Combinable with text-dependent passphrase for extra security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in forensic/investigative contexts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Non-intrusive, familiar natural interaction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DF1F0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/home/claude/biometrics/icon_cros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213238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22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variable signal — noise, mic quality, channel/codec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Intra-speaker variability — illness, fatigue, emotion, aging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replay attacks and AI voice-cloning/deepfakes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accuracy than iris/fingerprint, esp. text-independent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Twins, mimicry, and accent/language shifts confuse matching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521208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2C5F2D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537667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biometrics/icon_mic_2C5F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524" y="5503956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21208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voice is the most remote and convenient modality, but also today's fastest-growing spoofing target via AI voice cloning.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·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55448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691640"/>
            <a:ext cx="1408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0" y="1691640"/>
            <a:ext cx="14173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1691640"/>
            <a:ext cx="1271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12801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502152" y="1691640"/>
            <a:ext cx="1133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19659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82312" y="1691640"/>
            <a:ext cx="1819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Hardware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1691640"/>
            <a:ext cx="23317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748272" y="1691640"/>
            <a:ext cx="2185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Spoofing Threat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6840" y="1691640"/>
            <a:ext cx="25603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079992" y="1691640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258568"/>
            <a:ext cx="1554480" cy="82296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258568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(reference)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0" y="2258568"/>
            <a:ext cx="1417320" cy="82296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2258568"/>
            <a:ext cx="1271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No*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29000" y="2258568"/>
            <a:ext cx="1280160" cy="82296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2258568"/>
            <a:ext cx="1133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~0.1–2%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258568"/>
            <a:ext cx="1965960" cy="82296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258568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Optical/capacitive/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75120" y="2258568"/>
            <a:ext cx="2331720" cy="82296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2258568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finger / mold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06840" y="2258568"/>
            <a:ext cx="2560320" cy="822960"/>
          </a:xfrm>
          <a:prstGeom prst="rect">
            <a:avLst/>
          </a:prstGeom>
          <a:solidFill>
            <a:srgbClr val="F4F7FE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9992" y="2258568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enrollment, mobile devices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081528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081528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Facial-Scan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0" y="3081528"/>
            <a:ext cx="14173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3081528"/>
            <a:ext cx="1271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(distance)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29000" y="3081528"/>
            <a:ext cx="1280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3081528"/>
            <a:ext cx="1133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~0.3–2%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081528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3081528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/ NIR / depth camera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75120" y="3081528"/>
            <a:ext cx="23317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3081528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video, deepfake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06840" y="3081528"/>
            <a:ext cx="25603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79992" y="3081528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unlock, surveillance/watchlists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904488"/>
            <a:ext cx="1554480" cy="822960"/>
          </a:xfrm>
          <a:prstGeom prst="rect">
            <a:avLst/>
          </a:prstGeom>
          <a:solidFill>
            <a:srgbClr val="EAF4F8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3904488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Iris-Scan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011680" y="3904488"/>
            <a:ext cx="1417320" cy="822960"/>
          </a:xfrm>
          <a:prstGeom prst="rect">
            <a:avLst/>
          </a:prstGeom>
          <a:solidFill>
            <a:srgbClr val="EAF4F8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84832" y="3904488"/>
            <a:ext cx="1271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(close, cooperative)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29000" y="3904488"/>
            <a:ext cx="1280160" cy="822960"/>
          </a:xfrm>
          <a:prstGeom prst="rect">
            <a:avLst/>
          </a:prstGeom>
          <a:solidFill>
            <a:srgbClr val="EAF4F8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02152" y="3904488"/>
            <a:ext cx="1133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0.01%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3904488"/>
            <a:ext cx="1965960" cy="822960"/>
          </a:xfrm>
          <a:prstGeom prst="rect">
            <a:avLst/>
          </a:prstGeom>
          <a:solidFill>
            <a:srgbClr val="EAF4F8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82312" y="3904488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camera + illumination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675120" y="3904488"/>
            <a:ext cx="2331720" cy="822960"/>
          </a:xfrm>
          <a:prstGeom prst="rect">
            <a:avLst/>
          </a:prstGeom>
          <a:solidFill>
            <a:srgbClr val="EAF4F8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48272" y="3904488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contact lens, high-res photo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006840" y="3904488"/>
            <a:ext cx="2560320" cy="822960"/>
          </a:xfrm>
          <a:prstGeom prst="rect">
            <a:avLst/>
          </a:prstGeom>
          <a:solidFill>
            <a:srgbClr val="EAF4F8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79992" y="3904488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control, high-security access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4727448"/>
            <a:ext cx="1554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4727448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Voice-Scan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011680" y="4727448"/>
            <a:ext cx="14173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84832" y="4727448"/>
            <a:ext cx="1271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(fully remote)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429000" y="4727448"/>
            <a:ext cx="1280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02152" y="4727448"/>
            <a:ext cx="1133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~1–5%+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4727448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82312" y="4727448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microphone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675120" y="4727448"/>
            <a:ext cx="23317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48272" y="4727448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playback, voice cloning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006840" y="4727448"/>
            <a:ext cx="25603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79992" y="4727448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Call-center/IVR, remote banking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57200" y="5623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Some optical fingerprint sensors are contactless.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 · FOR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Assignment Topics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7F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019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biometrics/icon_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202484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9222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Daugman's IrisCode Hamming-Distance approach with deep-learning iris embeddings — what accuracy/robustness trade-offs exist?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06624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87121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biometrics/icon_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2994111"/>
            <a:ext cx="266273" cy="266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761488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basic liveness-detection pipeline for 2D facial recognition without dedicated depth-sensing hardware (e.g., blink detection, challenge-response).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75888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7FE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8404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biometrics/icon_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3963375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7307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why voice-scan is more vulnerable to AI-generated spoofing today than facial or iris recognition, and propose a countermeasure.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645152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480974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biometrics/icon_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4932639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700016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multimodal fusion — why might a system combine face + voice (e.g., video-call authentication) rather than relying on either alone?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614416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7FE"/>
          </a:solidFill>
          <a:ln/>
        </p:spPr>
      </p:sp>
      <p:sp>
        <p:nvSpPr>
          <p:cNvPr id="21" name="Shape 15"/>
          <p:cNvSpPr/>
          <p:nvPr/>
        </p:nvSpPr>
        <p:spPr>
          <a:xfrm>
            <a:off x="731520" y="57790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biometrics/icon_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" y="5901903"/>
            <a:ext cx="266273" cy="26627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56692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ethical/regulatory concerns specific to facial recognition (covert capture, surveillance, demographic bias) vs. iris and voice, which need more active cooperation.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· Iris · Voice Biometrics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326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1490</Words>
  <Application>Microsoft Office PowerPoint</Application>
  <PresentationFormat>Widescreen</PresentationFormat>
  <Paragraphs>264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9</cp:revision>
  <dcterms:created xsi:type="dcterms:W3CDTF">2026-08-31T19:01:21Z</dcterms:created>
  <dcterms:modified xsi:type="dcterms:W3CDTF">2026-09-01T19:11:38Z</dcterms:modified>
</cp:coreProperties>
</file>