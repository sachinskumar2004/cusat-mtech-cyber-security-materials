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70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64562" autoAdjust="0"/>
  </p:normalViewPr>
  <p:slideViewPr>
    <p:cSldViewPr snapToGrid="0">
      <p:cViewPr varScale="1">
        <p:scale>
          <a:sx n="54" d="100"/>
          <a:sy n="54" d="100"/>
        </p:scale>
        <p:origin x="1680" y="58"/>
      </p:cViewPr>
      <p:guideLst/>
    </p:cSldViewPr>
  </p:slideViewPr>
  <p:notesTextViewPr>
    <p:cViewPr>
      <p:scale>
        <a:sx n="1" d="1"/>
        <a:sy n="1" d="1"/>
      </p:scale>
      <p:origin x="0" y="-73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944C9-341B-4570-BCD0-2AE5E0E16A5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CC476-9072-48C8-9705-D06B6E8FF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93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Biometric </a:t>
            </a:r>
            <a:r>
              <a:rPr lang="en-US" dirty="0" smtClean="0"/>
              <a:t>systems are evaluated using a standard set of performance metrics. The central tension across all of them is balancing security against usability — tightening one typically loosens the other.</a:t>
            </a:r>
          </a:p>
          <a:p>
            <a:r>
              <a:rPr lang="en-US" b="1" dirty="0" smtClean="0"/>
              <a:t>FAR — False Accept Rate</a:t>
            </a:r>
            <a:r>
              <a:rPr lang="en-US" dirty="0" smtClean="0"/>
              <a:t> Security measure. The rate at which the system incorrectly accepts an unauthorized user as legitimate. A high FAR means impostors are getting through — this is the critical metric for security-sensitive applications.</a:t>
            </a:r>
          </a:p>
          <a:p>
            <a:r>
              <a:rPr lang="en-US" b="1" dirty="0" smtClean="0"/>
              <a:t>FRR — False Reject Rate</a:t>
            </a:r>
            <a:r>
              <a:rPr lang="en-US" dirty="0" smtClean="0"/>
              <a:t> Usability measure. The rate at which the system incorrectly rejects a legitimate, authorized user. A high FRR frustrates real users and drives poor adoption, even if the system is technically secure.</a:t>
            </a:r>
          </a:p>
          <a:p>
            <a:r>
              <a:rPr lang="en-US" b="1" dirty="0" smtClean="0"/>
              <a:t>FTE — Failure to Enroll</a:t>
            </a:r>
            <a:r>
              <a:rPr lang="en-US" dirty="0" smtClean="0"/>
              <a:t> System universality. The rate at which individuals cannot be enrolled in the system at all — due to factors like worn fingerprints, certain disabilities, or sensor limitations. This measures how well the system accommodates the full population it's meant to serve.</a:t>
            </a:r>
          </a:p>
          <a:p>
            <a:r>
              <a:rPr lang="en-US" b="1" dirty="0" smtClean="0"/>
              <a:t>EER — Equal Error Rate</a:t>
            </a:r>
            <a:r>
              <a:rPr lang="en-US" dirty="0" smtClean="0"/>
              <a:t> Overall performance. The point at which FAR and FRR are equal — the threshold where false accepts and false rejects occur at the same rate. A lower EER indicates a more accurate system overall, and it's commonly used to compare different biometric systems on a single number.</a:t>
            </a:r>
          </a:p>
          <a:p>
            <a:r>
              <a:rPr lang="en-US" b="1" dirty="0" smtClean="0"/>
              <a:t>ATV — Acquisition Time to Verification</a:t>
            </a:r>
            <a:r>
              <a:rPr lang="en-US" dirty="0" smtClean="0"/>
              <a:t> System speed. The time required to capture the biometric sample and complete verification. This affects throughput and user experience, particularly in high-volume settings like airports or turnstiles.</a:t>
            </a:r>
          </a:p>
          <a:p>
            <a:r>
              <a:rPr lang="en-US" b="1" dirty="0" smtClean="0"/>
              <a:t>Closing line</a:t>
            </a:r>
            <a:r>
              <a:rPr lang="en-US" dirty="0" smtClean="0"/>
              <a:t> FAR and FRR are directly linked by an adjustable threshold — lowering it improves usability but weakens security, and vice versa. EER gives us a single reference point for that tradeoff, while FTE and ATV round out the picture with universality and speed.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99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FAR — False Accept Rate</a:t>
            </a:r>
            <a:r>
              <a:rPr lang="en-US" dirty="0" smtClean="0"/>
              <a:t> Security measure. The rate at which the system incorrectly accepts an unauthorized user as legitimate. A high FAR means impostors are getting through — this is the critical metric for security-sensitive applications.</a:t>
            </a:r>
          </a:p>
          <a:p>
            <a:endParaRPr lang="en-US" dirty="0" smtClean="0"/>
          </a:p>
          <a:p>
            <a:r>
              <a:rPr lang="en-US" dirty="0" smtClean="0"/>
              <a:t>Security measure. The rate at which the system incorrectly accepts an unauthorized user as legitimate. A high FAR means impostors are getting through — this is the critical metric for security-sensitive applications.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58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FRR — False Reject Rate</a:t>
            </a:r>
            <a:r>
              <a:rPr lang="en-US" dirty="0" smtClean="0"/>
              <a:t> Usability measure. The rate at which the system incorrectly rejects a legitimate, authorized user. A high FRR frustrates real users and drives poor adoption, even if the system is technically secure.</a:t>
            </a:r>
          </a:p>
          <a:p>
            <a:endParaRPr lang="en-US" dirty="0" smtClean="0"/>
          </a:p>
          <a:p>
            <a:r>
              <a:rPr lang="en-US" dirty="0" smtClean="0"/>
              <a:t>Usability measure. The rate at which the system incorrectly rejects a legitimate, authorized user. A high FRR frustrates real users and drives poor adoption, even if the system is technically secure.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470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FTE — Failure to Enroll</a:t>
            </a:r>
            <a:r>
              <a:rPr lang="en-US" dirty="0" smtClean="0"/>
              <a:t> System universality. The rate at which individuals cannot be enrolled in the system at all — due to factors like worn fingerprints, certain disabilities, or sensor limitations. This measures how well the system accommodates the full population it's meant to serve.</a:t>
            </a:r>
          </a:p>
          <a:p>
            <a:endParaRPr lang="en-US" dirty="0" smtClean="0"/>
          </a:p>
          <a:p>
            <a:r>
              <a:rPr lang="en-US" dirty="0" smtClean="0"/>
              <a:t>System universality. The rate at which individuals cannot be enrolled in the system at all — due to factors like worn fingerprints, certain disabilities, or sensor limitations. This measures how well the system accommodates the full population it's meant to serve.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98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EER — Equal Error Rate</a:t>
            </a:r>
            <a:r>
              <a:rPr lang="en-US" dirty="0" smtClean="0"/>
              <a:t> Overall performance. The point at which FAR and FRR are equal — the threshold where false accepts and false rejects occur at the same rate. A lower EER indicates a more accurate system overall, and it's commonly used to compare different biometric systems on a single number.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Overall performance. The point at which FAR and FRR are equal — the threshold where false accepts and false rejects occur at the same rate. A lower EER indicates a more accurate system overall, and it's commonly used to compare different biometric systems on a single number.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019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ATV — Acquisition Time to Verification</a:t>
            </a:r>
            <a:r>
              <a:rPr lang="en-US" dirty="0" smtClean="0"/>
              <a:t> System speed. The time required to capture the biometric sample and complete verification. This affects throughput and user experience, particularly in high-volume settings like airports or turnstiles.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r>
              <a:rPr lang="en-US" dirty="0" smtClean="0"/>
              <a:t>System speed. The time required to capture the biometric sample and complete verification. This affects throughput and user experience, particularly in high-volume settings like airports or turnstiles.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551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Slide intro</a:t>
            </a:r>
            <a:r>
              <a:rPr lang="en-US" dirty="0" smtClean="0"/>
              <a:t> FAR and FRR aren't independent — they're inversely linked through the system's matching threshold. Moving the threshold to improve one necessarily worsens the other.</a:t>
            </a:r>
          </a:p>
          <a:p>
            <a:r>
              <a:rPr lang="en-US" b="1" dirty="0" smtClean="0"/>
              <a:t>Fundamental Challenge</a:t>
            </a:r>
            <a:r>
              <a:rPr lang="en-US" dirty="0" smtClean="0"/>
              <a:t> No single threshold optimizes both FAR and FRR simultaneously — every setting is a tradeoff point.</a:t>
            </a:r>
          </a:p>
          <a:p>
            <a:r>
              <a:rPr lang="en-US" b="1" dirty="0" smtClean="0"/>
              <a:t>High Security (Low FAR)</a:t>
            </a:r>
            <a:endParaRPr lang="en-US" dirty="0" smtClean="0"/>
          </a:p>
          <a:p>
            <a:r>
              <a:rPr lang="en-US" b="1" dirty="0" smtClean="0"/>
              <a:t>Stricter thresholds:</a:t>
            </a:r>
            <a:r>
              <a:rPr lang="en-US" dirty="0" smtClean="0"/>
              <a:t> requires a closer match to accept</a:t>
            </a:r>
          </a:p>
          <a:p>
            <a:r>
              <a:rPr lang="en-US" b="1" dirty="0" smtClean="0"/>
              <a:t>Higher FRR:</a:t>
            </a:r>
            <a:r>
              <a:rPr lang="en-US" dirty="0" smtClean="0"/>
              <a:t> more legitimate users rejected, as a direct consequence</a:t>
            </a:r>
          </a:p>
          <a:p>
            <a:r>
              <a:rPr lang="en-US" b="1" dirty="0" smtClean="0"/>
              <a:t>Use case:</a:t>
            </a:r>
            <a:r>
              <a:rPr lang="en-US" dirty="0" smtClean="0"/>
              <a:t> high-stakes contexts (border control, finance) where false accepts are costlier than false rejects</a:t>
            </a:r>
          </a:p>
          <a:p>
            <a:r>
              <a:rPr lang="en-US" b="1" dirty="0" smtClean="0"/>
              <a:t>Cost:</a:t>
            </a:r>
            <a:r>
              <a:rPr lang="en-US" dirty="0" smtClean="0"/>
              <a:t> increased friction for legitimate users</a:t>
            </a:r>
          </a:p>
          <a:p>
            <a:r>
              <a:rPr lang="en-US" b="1" dirty="0" smtClean="0"/>
              <a:t>High Usability (Low FRR)</a:t>
            </a:r>
            <a:endParaRPr lang="en-US" dirty="0" smtClean="0"/>
          </a:p>
          <a:p>
            <a:r>
              <a:rPr lang="en-US" b="1" dirty="0" smtClean="0"/>
              <a:t>Relaxed thresholds:</a:t>
            </a:r>
            <a:r>
              <a:rPr lang="en-US" dirty="0" smtClean="0"/>
              <a:t> accepts a looser match</a:t>
            </a:r>
          </a:p>
          <a:p>
            <a:r>
              <a:rPr lang="en-US" b="1" dirty="0" smtClean="0"/>
              <a:t>Higher FAR:</a:t>
            </a:r>
            <a:r>
              <a:rPr lang="en-US" dirty="0" smtClean="0"/>
              <a:t> more impostors accepted, as a direct consequence</a:t>
            </a:r>
          </a:p>
          <a:p>
            <a:r>
              <a:rPr lang="en-US" b="1" dirty="0" smtClean="0"/>
              <a:t>Use case:</a:t>
            </a:r>
            <a:r>
              <a:rPr lang="en-US" dirty="0" smtClean="0"/>
              <a:t> convenience-focused contexts where smooth access matters more than strict exclusion</a:t>
            </a:r>
          </a:p>
          <a:p>
            <a:r>
              <a:rPr lang="en-US" b="1" dirty="0" smtClean="0"/>
              <a:t>Cost:</a:t>
            </a:r>
            <a:r>
              <a:rPr lang="en-US" dirty="0" smtClean="0"/>
              <a:t> increased exposure to unauthorized access</a:t>
            </a:r>
          </a:p>
          <a:p>
            <a:r>
              <a:rPr lang="en-US" b="1" dirty="0" smtClean="0"/>
              <a:t>Optimization Tools</a:t>
            </a:r>
            <a:endParaRPr lang="en-US" dirty="0" smtClean="0"/>
          </a:p>
          <a:p>
            <a:r>
              <a:rPr lang="en-US" b="1" dirty="0" smtClean="0"/>
              <a:t>ROC curves:</a:t>
            </a:r>
            <a:r>
              <a:rPr lang="en-US" dirty="0" smtClean="0"/>
              <a:t> plot True Accept Rate vs. False Accept Rate across all thresholds — visualizes the full tradeoff space</a:t>
            </a:r>
          </a:p>
          <a:p>
            <a:r>
              <a:rPr lang="en-US" b="1" dirty="0" smtClean="0"/>
              <a:t>DET curves:</a:t>
            </a:r>
            <a:r>
              <a:rPr lang="en-US" dirty="0" smtClean="0"/>
              <a:t> plot FRR vs. FAR on logarithmic scales — clearer resolution at the low-error range where real systems operate</a:t>
            </a:r>
          </a:p>
          <a:p>
            <a:r>
              <a:rPr lang="en-US" b="1" dirty="0" smtClean="0"/>
              <a:t>Threshold selection:</a:t>
            </a:r>
            <a:r>
              <a:rPr lang="en-US" dirty="0" smtClean="0"/>
              <a:t> set per application, based on its specific risk tolerance and usability needs — not a fixed universal value</a:t>
            </a:r>
          </a:p>
          <a:p>
            <a:r>
              <a:rPr lang="en-US" b="1" dirty="0" smtClean="0"/>
              <a:t>Closing line</a:t>
            </a:r>
            <a:r>
              <a:rPr lang="en-US" dirty="0" smtClean="0"/>
              <a:t> The right threshold depends on what's being protected and who the system must serve — there's no universal optimum.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65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Applications</a:t>
            </a:r>
            <a:endParaRPr lang="en-US" dirty="0" smtClean="0"/>
          </a:p>
          <a:p>
            <a:r>
              <a:rPr lang="en-US" b="1" dirty="0" smtClean="0"/>
              <a:t>Building access control:</a:t>
            </a:r>
            <a:r>
              <a:rPr lang="en-US" dirty="0" smtClean="0"/>
              <a:t> securing entry to offices, facilities, or restricted zones</a:t>
            </a:r>
          </a:p>
          <a:p>
            <a:r>
              <a:rPr lang="en-US" b="1" dirty="0" smtClean="0"/>
              <a:t>Computer and network login:</a:t>
            </a:r>
            <a:r>
              <a:rPr lang="en-US" dirty="0" smtClean="0"/>
              <a:t> biometric authentication replacing or supplementing passwords</a:t>
            </a:r>
          </a:p>
          <a:p>
            <a:r>
              <a:rPr lang="en-US" b="1" dirty="0" smtClean="0"/>
              <a:t>Safe and vault access:</a:t>
            </a:r>
            <a:r>
              <a:rPr lang="en-US" dirty="0" smtClean="0"/>
              <a:t> high-security storage requiring strong identity assurance</a:t>
            </a:r>
          </a:p>
          <a:p>
            <a:r>
              <a:rPr lang="en-US" b="1" dirty="0" smtClean="0"/>
              <a:t>Vehicle access systems:</a:t>
            </a:r>
            <a:r>
              <a:rPr lang="en-US" dirty="0" smtClean="0"/>
              <a:t> biometric-based entry and ignition control</a:t>
            </a:r>
          </a:p>
          <a:p>
            <a:r>
              <a:rPr lang="en-US" b="1" dirty="0" smtClean="0"/>
              <a:t>Server room security:</a:t>
            </a:r>
            <a:r>
              <a:rPr lang="en-US" dirty="0" smtClean="0"/>
              <a:t> protecting critical infrastructure with restricted physical access</a:t>
            </a:r>
          </a:p>
          <a:p>
            <a:r>
              <a:rPr lang="en-US" b="1" dirty="0" smtClean="0"/>
              <a:t>Requirements</a:t>
            </a:r>
            <a:r>
              <a:rPr lang="en-US" dirty="0" smtClean="0"/>
              <a:t> These map directly to the performance metrics from earlier slides:</a:t>
            </a:r>
          </a:p>
          <a:p>
            <a:r>
              <a:rPr lang="en-US" b="1" dirty="0" smtClean="0"/>
              <a:t>Low FAR for security:</a:t>
            </a:r>
            <a:r>
              <a:rPr lang="en-US" dirty="0" smtClean="0"/>
              <a:t> minimizing unauthorized access is the priority in these contexts</a:t>
            </a:r>
          </a:p>
          <a:p>
            <a:r>
              <a:rPr lang="en-US" b="1" dirty="0" smtClean="0"/>
              <a:t>Reasonable FRR for convenience:</a:t>
            </a:r>
            <a:r>
              <a:rPr lang="en-US" dirty="0" smtClean="0"/>
              <a:t> rejections shouldn't be so frequent that they disrupt normal operations</a:t>
            </a:r>
          </a:p>
          <a:p>
            <a:r>
              <a:rPr lang="en-US" b="1" dirty="0" smtClean="0"/>
              <a:t>Fast verification (low ATV):</a:t>
            </a:r>
            <a:r>
              <a:rPr lang="en-US" dirty="0" smtClean="0"/>
              <a:t> access points need quick throughput, especially at high-traffic entries</a:t>
            </a:r>
          </a:p>
          <a:p>
            <a:r>
              <a:rPr lang="en-US" b="1" dirty="0" smtClean="0"/>
              <a:t>Durability and reliability:</a:t>
            </a:r>
            <a:r>
              <a:rPr lang="en-US" dirty="0" smtClean="0"/>
              <a:t> hardware must withstand continuous, often unsupervised, real-world use</a:t>
            </a:r>
          </a:p>
          <a:p>
            <a:r>
              <a:rPr lang="en-US" b="1" dirty="0" smtClean="0"/>
              <a:t>Integration capabilities:</a:t>
            </a:r>
            <a:r>
              <a:rPr lang="en-US" dirty="0" smtClean="0"/>
              <a:t> must interface with existing security infrastructure — door controllers, logging systems, alarms</a:t>
            </a:r>
          </a:p>
          <a:p>
            <a:r>
              <a:rPr lang="en-US" b="1" dirty="0" smtClean="0"/>
              <a:t>Common Technologies</a:t>
            </a:r>
            <a:endParaRPr lang="en-US" dirty="0" smtClean="0"/>
          </a:p>
          <a:p>
            <a:r>
              <a:rPr lang="en-US" b="1" dirty="0" smtClean="0"/>
              <a:t>Fingerprint:</a:t>
            </a:r>
            <a:r>
              <a:rPr lang="en-US" dirty="0" smtClean="0"/>
              <a:t> most popular option, cost-effective to deploy at scale</a:t>
            </a:r>
          </a:p>
          <a:p>
            <a:r>
              <a:rPr lang="en-US" b="1" dirty="0" smtClean="0"/>
              <a:t>Iris:</a:t>
            </a:r>
            <a:r>
              <a:rPr lang="en-US" dirty="0" smtClean="0"/>
              <a:t> high accuracy with contactless operation — reduces hygiene concerns and hardware wear</a:t>
            </a:r>
          </a:p>
          <a:p>
            <a:r>
              <a:rPr lang="en-US" b="1" dirty="0" smtClean="0"/>
              <a:t>Face recognition:</a:t>
            </a:r>
            <a:r>
              <a:rPr lang="en-US" dirty="0" smtClean="0"/>
              <a:t> user-friendly with minimal user cooperation required, and integrates well with existing surveillance camera infrastructure</a:t>
            </a:r>
          </a:p>
          <a:p>
            <a:r>
              <a:rPr lang="en-US" b="1" dirty="0" smtClean="0"/>
              <a:t>Hand geometry:</a:t>
            </a:r>
            <a:r>
              <a:rPr lang="en-US" dirty="0" smtClean="0"/>
              <a:t> hygienic and reliable, though generally less discriminative than fingerprint or iris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technology choice in each deployment comes down to weighing these requirements against the specific context — a server room prioritizes low FAR above all, while a building lobby may prioritize speed and user convenience.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011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 smtClean="0"/>
              <a:t>Biometric systems can be attacked at three distinct points: capture, storage, and transmission. Each requires different countermeasures.</a:t>
            </a:r>
          </a:p>
          <a:p>
            <a:pPr rtl="0"/>
            <a:r>
              <a:rPr lang="en-US" b="1" dirty="0" smtClean="0"/>
              <a:t>Spoofing Attacks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Definition: presenting a fake biometric trait to the sensor instead of a live one.</a:t>
            </a:r>
          </a:p>
          <a:p>
            <a:pPr rtl="0"/>
            <a:r>
              <a:rPr lang="en-US" b="1" dirty="0" smtClean="0"/>
              <a:t>Fingerprint:</a:t>
            </a:r>
            <a:r>
              <a:rPr lang="en-US" dirty="0" smtClean="0"/>
              <a:t> silicone/gelatin molds cast from lifted prints; printed conductive patterns</a:t>
            </a:r>
          </a:p>
          <a:p>
            <a:pPr rtl="0"/>
            <a:r>
              <a:rPr lang="en-US" b="1" dirty="0" smtClean="0"/>
              <a:t>Face:</a:t>
            </a:r>
            <a:r>
              <a:rPr lang="en-US" dirty="0" smtClean="0"/>
              <a:t> printed photos, replayed video, 3D-printed or silicone masks</a:t>
            </a:r>
          </a:p>
          <a:p>
            <a:pPr rtl="0"/>
            <a:r>
              <a:rPr lang="en-US" b="1" dirty="0" smtClean="0"/>
              <a:t>Iris:</a:t>
            </a:r>
            <a:r>
              <a:rPr lang="en-US" dirty="0" smtClean="0"/>
              <a:t> high-resolution printed iris images, sometimes paired with textured contact lenses</a:t>
            </a:r>
          </a:p>
          <a:p>
            <a:pPr rtl="0"/>
            <a:r>
              <a:rPr lang="en-US" b="1" dirty="0" smtClean="0"/>
              <a:t>Voice:</a:t>
            </a:r>
            <a:r>
              <a:rPr lang="en-US" dirty="0" smtClean="0"/>
              <a:t> replayed recordings; AI-synthesized speech cloned from short voice samples</a:t>
            </a:r>
          </a:p>
          <a:p>
            <a:pPr rtl="0"/>
            <a:r>
              <a:rPr lang="en-US" dirty="0" smtClean="0"/>
              <a:t>Core defense: liveness detection — verifying the trait comes from a living subject, not a replica.</a:t>
            </a:r>
          </a:p>
          <a:p>
            <a:pPr rtl="0"/>
            <a:r>
              <a:rPr lang="en-US" b="1" dirty="0" smtClean="0"/>
              <a:t>Template Security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Note: systems store a derived mathematical template, not the raw biometric image.</a:t>
            </a:r>
          </a:p>
          <a:p>
            <a:pPr rtl="0"/>
            <a:r>
              <a:rPr lang="en-US" b="1" dirty="0" smtClean="0"/>
              <a:t>Template theft:</a:t>
            </a:r>
            <a:r>
              <a:rPr lang="en-US" dirty="0" smtClean="0"/>
              <a:t> database breach exposes stored templates — unlike passwords, biometrics can't be reset</a:t>
            </a:r>
          </a:p>
          <a:p>
            <a:pPr rtl="0"/>
            <a:r>
              <a:rPr lang="en-US" b="1" dirty="0" smtClean="0"/>
              <a:t>Template modification/corruption:</a:t>
            </a:r>
            <a:r>
              <a:rPr lang="en-US" dirty="0" smtClean="0"/>
              <a:t> altering stored data to deny legitimate access or admit an attacker</a:t>
            </a:r>
          </a:p>
          <a:p>
            <a:pPr rtl="0"/>
            <a:r>
              <a:rPr lang="en-US" b="1" dirty="0" smtClean="0"/>
              <a:t>Cross-matching:</a:t>
            </a:r>
            <a:r>
              <a:rPr lang="en-US" dirty="0" smtClean="0"/>
              <a:t> shared template formats across systems allow identity correlation without consent — a privacy risk, not just a security one</a:t>
            </a:r>
          </a:p>
          <a:p>
            <a:pPr rtl="0"/>
            <a:r>
              <a:rPr lang="en-US" b="1" dirty="0" smtClean="0"/>
              <a:t>Reconstruction:</a:t>
            </a:r>
            <a:r>
              <a:rPr lang="en-US" dirty="0" smtClean="0"/>
              <a:t> recovering an approximation of the original biometric from the template, under certain algorithmic conditions</a:t>
            </a:r>
          </a:p>
          <a:p>
            <a:pPr rtl="0"/>
            <a:r>
              <a:rPr lang="en-US" dirty="0" smtClean="0"/>
              <a:t>Core defense: template encryption, cancelable biometrics, secure storage architecture.</a:t>
            </a:r>
          </a:p>
          <a:p>
            <a:pPr rtl="0"/>
            <a:r>
              <a:rPr lang="en-US" b="1" dirty="0" smtClean="0"/>
              <a:t>Transmission Security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Threats during data transfer between sensor and authentication server.</a:t>
            </a:r>
          </a:p>
          <a:p>
            <a:pPr rtl="0"/>
            <a:r>
              <a:rPr lang="en-US" b="1" dirty="0" smtClean="0"/>
              <a:t>Man-in-the-middle:</a:t>
            </a:r>
            <a:r>
              <a:rPr lang="en-US" dirty="0" smtClean="0"/>
              <a:t> interception and possible alteration of data in transit</a:t>
            </a:r>
          </a:p>
          <a:p>
            <a:pPr rtl="0"/>
            <a:r>
              <a:rPr lang="en-US" b="1" dirty="0" smtClean="0"/>
              <a:t>Replay attacks:</a:t>
            </a:r>
            <a:r>
              <a:rPr lang="en-US" dirty="0" smtClean="0"/>
              <a:t> capturing valid authentication data and resubmitting it later</a:t>
            </a:r>
          </a:p>
          <a:p>
            <a:pPr rtl="0"/>
            <a:r>
              <a:rPr lang="en-US" b="1" dirty="0" smtClean="0"/>
              <a:t>Protocol vulnerabilities:</a:t>
            </a:r>
            <a:r>
              <a:rPr lang="en-US" dirty="0" smtClean="0"/>
              <a:t> weaknesses in the communication protocol itself, independent of the biometric data</a:t>
            </a:r>
          </a:p>
          <a:p>
            <a:pPr rtl="0"/>
            <a:r>
              <a:rPr lang="en-US" dirty="0" smtClean="0"/>
              <a:t>Core defense: encrypted channels, mutual authentication, challenge-response protocols.</a:t>
            </a:r>
          </a:p>
          <a:p>
            <a:pPr rt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Security is only as strong as the weakest of these three layers — an attacker needs just one point of failure.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90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 smtClean="0"/>
              <a:t>Anti-Spoofing </a:t>
            </a:r>
            <a:r>
              <a:rPr lang="en-US" b="1" dirty="0" smtClean="0"/>
              <a:t>Measures</a:t>
            </a:r>
            <a:endParaRPr lang="en-US" dirty="0" smtClean="0"/>
          </a:p>
          <a:p>
            <a:pPr rtl="0"/>
            <a:r>
              <a:rPr lang="en-US" b="1" dirty="0" smtClean="0"/>
              <a:t>Liveness detection:</a:t>
            </a:r>
            <a:r>
              <a:rPr lang="en-US" dirty="0" smtClean="0"/>
              <a:t> verifies physiological signs of a living subject — pulse, blood flow, involuntary movement — to distinguish a real trait from a static replica.</a:t>
            </a:r>
          </a:p>
          <a:p>
            <a:pPr rtl="0"/>
            <a:r>
              <a:rPr lang="en-US" b="1" dirty="0" smtClean="0"/>
              <a:t>Multi-modal systems:</a:t>
            </a:r>
            <a:r>
              <a:rPr lang="en-US" dirty="0" smtClean="0"/>
              <a:t> require two or more biometric traits together (e.g., fingerprint + face), raising the difficulty of spoofing all channels simultaneously.</a:t>
            </a:r>
          </a:p>
          <a:p>
            <a:pPr rtl="0"/>
            <a:r>
              <a:rPr lang="en-US" b="1" dirty="0" smtClean="0"/>
              <a:t>Challenge-response:</a:t>
            </a:r>
            <a:r>
              <a:rPr lang="en-US" dirty="0" smtClean="0"/>
              <a:t> prompts the user for a randomized action (blink, turn head, speak a phrase) during capture, defeating pre-recorded or static spoofs.</a:t>
            </a:r>
          </a:p>
          <a:p>
            <a:pPr rtl="0"/>
            <a:r>
              <a:rPr lang="en-US" b="1" dirty="0" smtClean="0"/>
              <a:t>Advanced sensors:</a:t>
            </a:r>
            <a:r>
              <a:rPr lang="en-US" dirty="0" smtClean="0"/>
              <a:t> 3D imaging and infrared capture depth and sub-surface detail that flat images, masks, or screens can't replicate.</a:t>
            </a:r>
          </a:p>
          <a:p>
            <a:pPr rtl="0"/>
            <a:r>
              <a:rPr lang="en-US" b="1" dirty="0" smtClean="0"/>
              <a:t>Template Protection</a:t>
            </a:r>
            <a:endParaRPr lang="en-US" dirty="0" smtClean="0"/>
          </a:p>
          <a:p>
            <a:pPr rtl="0"/>
            <a:r>
              <a:rPr lang="en-US" b="1" dirty="0" smtClean="0"/>
              <a:t>Encryption:</a:t>
            </a:r>
            <a:r>
              <a:rPr lang="en-US" dirty="0" smtClean="0"/>
              <a:t> stored templates are cryptographically protected, so a database breach doesn't expose usable biometric data.</a:t>
            </a:r>
          </a:p>
          <a:p>
            <a:pPr rtl="0"/>
            <a:r>
              <a:rPr lang="en-US" b="1" dirty="0" smtClean="0"/>
              <a:t>Cancelable biometrics:</a:t>
            </a:r>
            <a:r>
              <a:rPr lang="en-US" dirty="0" smtClean="0"/>
              <a:t> templates are generated through an irreversible transform of the original trait — if compromised, they can be revoked and regenerated, similar to resetting a password.</a:t>
            </a:r>
          </a:p>
          <a:p>
            <a:pPr rtl="0"/>
            <a:r>
              <a:rPr lang="en-US" b="1" dirty="0" smtClean="0"/>
              <a:t>Biometric cryptosystems:</a:t>
            </a:r>
            <a:r>
              <a:rPr lang="en-US" dirty="0" smtClean="0"/>
              <a:t> bind the biometric template to a cryptographic key, so authentication requires both to succeed.</a:t>
            </a:r>
          </a:p>
          <a:p>
            <a:pPr rtl="0"/>
            <a:r>
              <a:rPr lang="en-US" b="1" dirty="0" smtClean="0"/>
              <a:t>Standards:</a:t>
            </a:r>
            <a:r>
              <a:rPr lang="en-US" dirty="0" smtClean="0"/>
              <a:t> ISO/IEC 24745 governs biometric information protection, providing a common baseline for secure template handling.</a:t>
            </a:r>
          </a:p>
          <a:p>
            <a:pPr rtl="0"/>
            <a:r>
              <a:rPr lang="en-IN" b="1" dirty="0" smtClean="0"/>
              <a:t>Transmission Security</a:t>
            </a:r>
            <a:endParaRPr lang="en-IN" dirty="0" smtClean="0"/>
          </a:p>
          <a:p>
            <a:pPr rtl="0"/>
            <a:r>
              <a:rPr lang="en-IN" b="1" dirty="0" smtClean="0"/>
              <a:t>Encryption (TLS/SSL):</a:t>
            </a:r>
            <a:r>
              <a:rPr lang="en-IN" dirty="0" smtClean="0"/>
              <a:t> secures biometric data while in transit between sensor and server.</a:t>
            </a:r>
          </a:p>
          <a:p>
            <a:pPr rtl="0"/>
            <a:r>
              <a:rPr lang="en-IN" b="1" dirty="0" smtClean="0"/>
              <a:t>Digital signatures:</a:t>
            </a:r>
            <a:r>
              <a:rPr lang="en-IN" dirty="0" smtClean="0"/>
              <a:t> verify that transmitted data hasn't been altered </a:t>
            </a:r>
            <a:r>
              <a:rPr lang="en-IN" dirty="0" err="1" smtClean="0"/>
              <a:t>en</a:t>
            </a:r>
            <a:r>
              <a:rPr lang="en-IN" dirty="0" smtClean="0"/>
              <a:t> route.</a:t>
            </a:r>
          </a:p>
          <a:p>
            <a:pPr rtl="0"/>
            <a:r>
              <a:rPr lang="en-IN" b="1" dirty="0" smtClean="0"/>
              <a:t>Secure protocols:</a:t>
            </a:r>
            <a:r>
              <a:rPr lang="en-IN" dirty="0" smtClean="0"/>
              <a:t> standardized, vetted communication protocols reduce exposure to implementation-level vulnerabilities.</a:t>
            </a:r>
          </a:p>
          <a:p>
            <a:pPr rtl="0"/>
            <a:r>
              <a:rPr lang="en-IN" b="1" dirty="0" smtClean="0"/>
              <a:t>Timestamps:</a:t>
            </a:r>
            <a:r>
              <a:rPr lang="en-IN" dirty="0" smtClean="0"/>
              <a:t> invalidate old captured data, directly preventing replay attacks.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41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 smtClean="0"/>
              <a:t>These are privacy risks inherent to biometric systems, distinct from technical security flaws — they exist even when systems work exactly as designed.</a:t>
            </a:r>
          </a:p>
          <a:p>
            <a:pPr rtl="0"/>
            <a:r>
              <a:rPr lang="en-US" b="1" dirty="0" smtClean="0"/>
              <a:t>Data Collection and Storage</a:t>
            </a:r>
            <a:endParaRPr lang="en-US" dirty="0" smtClean="0"/>
          </a:p>
          <a:p>
            <a:pPr rtl="0"/>
            <a:r>
              <a:rPr lang="en-US" b="1" dirty="0" smtClean="0"/>
              <a:t>Excessive collection:</a:t>
            </a:r>
            <a:r>
              <a:rPr lang="en-US" dirty="0" smtClean="0"/>
              <a:t> systems capture more data than the stated purpose requires</a:t>
            </a:r>
          </a:p>
          <a:p>
            <a:pPr rtl="0"/>
            <a:r>
              <a:rPr lang="en-US" b="1" dirty="0" smtClean="0"/>
              <a:t>Indefinite storage:</a:t>
            </a:r>
            <a:r>
              <a:rPr lang="en-US" dirty="0" smtClean="0"/>
              <a:t> biometric data retained with no defined deletion policy</a:t>
            </a:r>
          </a:p>
          <a:p>
            <a:pPr rtl="0"/>
            <a:r>
              <a:rPr lang="en-US" b="1" dirty="0" smtClean="0"/>
              <a:t>Lack of consent/awareness:</a:t>
            </a:r>
            <a:r>
              <a:rPr lang="en-US" dirty="0" smtClean="0"/>
              <a:t> individuals scanned or enrolled without understanding use or scope</a:t>
            </a:r>
          </a:p>
          <a:p>
            <a:pPr rtl="0"/>
            <a:r>
              <a:rPr lang="en-US" b="1" dirty="0" smtClean="0"/>
              <a:t>Secondary use:</a:t>
            </a:r>
            <a:r>
              <a:rPr lang="en-US" dirty="0" smtClean="0"/>
              <a:t> data repurposed beyond its original collection purpose, without renewed consent</a:t>
            </a:r>
          </a:p>
          <a:p>
            <a:pPr rtl="0"/>
            <a:r>
              <a:rPr lang="en-US" b="1" dirty="0" smtClean="0"/>
              <a:t>Surveillance and Tracking</a:t>
            </a:r>
            <a:endParaRPr lang="en-US" dirty="0" smtClean="0"/>
          </a:p>
          <a:p>
            <a:pPr rtl="0"/>
            <a:r>
              <a:rPr lang="en-US" b="1" dirty="0" smtClean="0"/>
              <a:t>Covert identification:</a:t>
            </a:r>
            <a:r>
              <a:rPr lang="en-US" dirty="0" smtClean="0"/>
              <a:t> facial recognition identifies individuals in public without their knowledge</a:t>
            </a:r>
          </a:p>
          <a:p>
            <a:pPr rtl="0"/>
            <a:r>
              <a:rPr lang="en-US" b="1" dirty="0" smtClean="0"/>
              <a:t>Cross-system tracking:</a:t>
            </a:r>
            <a:r>
              <a:rPr lang="en-US" dirty="0" smtClean="0"/>
              <a:t> linking biometric data across systems enables composite profiling of movement and behavior</a:t>
            </a:r>
          </a:p>
          <a:p>
            <a:pPr rtl="0"/>
            <a:r>
              <a:rPr lang="en-US" b="1" dirty="0" smtClean="0"/>
              <a:t>Government surveillance:</a:t>
            </a:r>
            <a:r>
              <a:rPr lang="en-US" dirty="0" smtClean="0"/>
              <a:t> state use for population-level monitoring — a civil liberties concern</a:t>
            </a:r>
          </a:p>
          <a:p>
            <a:pPr rtl="0"/>
            <a:r>
              <a:rPr lang="en-US" b="1" dirty="0" smtClean="0"/>
              <a:t>Commercial tracking:</a:t>
            </a:r>
            <a:r>
              <a:rPr lang="en-US" dirty="0" smtClean="0"/>
              <a:t> businesses use biometric ID for behavioral/marketing data, often undisclosed</a:t>
            </a:r>
          </a:p>
          <a:p>
            <a:pPr rtl="0"/>
            <a:r>
              <a:rPr lang="en-US" b="1" dirty="0" smtClean="0"/>
              <a:t>Function Creep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Definition: gradual expansion of system use beyond its original purpose.</a:t>
            </a:r>
          </a:p>
          <a:p>
            <a:pPr rtl="0"/>
            <a:r>
              <a:rPr lang="en-US" b="1" dirty="0" smtClean="0"/>
              <a:t>Attendance → Performance monitoring:</a:t>
            </a:r>
            <a:r>
              <a:rPr lang="en-US" dirty="0" smtClean="0"/>
              <a:t> logging shifts to employee evaluation</a:t>
            </a:r>
          </a:p>
          <a:p>
            <a:pPr rtl="0"/>
            <a:r>
              <a:rPr lang="en-US" b="1" dirty="0" smtClean="0"/>
              <a:t>Access control → Behavioral analysis:</a:t>
            </a:r>
            <a:r>
              <a:rPr lang="en-US" dirty="0" smtClean="0"/>
              <a:t> entry management shifts to pattern analysis</a:t>
            </a:r>
          </a:p>
          <a:p>
            <a:pPr rtl="0"/>
            <a:r>
              <a:rPr lang="en-US" b="1" dirty="0" smtClean="0"/>
              <a:t>Verification → Continuous monitoring:</a:t>
            </a:r>
            <a:r>
              <a:rPr lang="en-US" dirty="0" smtClean="0"/>
              <a:t> one-time ID check shifts to ongoing tracking</a:t>
            </a:r>
          </a:p>
          <a:p>
            <a:pPr rtl="0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Function creep matters because each expansion looks reasonable individually — the risk is cumulative, ending in systems far beyond original user consent.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C476-9072-48C8-9705-D06B6E8FF12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23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527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121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766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018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25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13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24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01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679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4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6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C3453-8E31-4A34-A78B-733E5D189D0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2A1D2-3A26-47BE-B8CB-EA0E43F48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09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Performance Measures </a:t>
            </a:r>
            <a:r>
              <a:rPr lang="en-IN" b="1" dirty="0" smtClean="0"/>
              <a:t>in Biometric Systems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72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Performance Measures Overview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09602"/>
            <a:ext cx="10515600" cy="398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5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5622"/>
            <a:ext cx="10515600" cy="1280795"/>
          </a:xfrm>
        </p:spPr>
        <p:txBody>
          <a:bodyPr/>
          <a:lstStyle/>
          <a:p>
            <a:pPr algn="ctr"/>
            <a:r>
              <a:rPr lang="en-IN" b="1" dirty="0"/>
              <a:t>False Accept Rate (FAR)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6044"/>
            <a:ext cx="10515600" cy="4580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Probability that the system incorrectly accepts an unauthorized </a:t>
            </a:r>
            <a:r>
              <a:rPr lang="en-US" dirty="0" smtClean="0"/>
              <a:t>user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26576"/>
            <a:ext cx="10350731" cy="39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99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False Reject Rate (FRR)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0532"/>
            <a:ext cx="10515600" cy="50464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Probability that the system incorrectly rejects an authorized user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10691"/>
            <a:ext cx="10515600" cy="428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6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1701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Failure to Enroll (FTE)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7404"/>
            <a:ext cx="10515600" cy="512955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Percentage of users who cannot successfully enroll in the biometric system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10197"/>
            <a:ext cx="10515600" cy="426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3880"/>
            <a:ext cx="10515600" cy="732150"/>
          </a:xfrm>
        </p:spPr>
        <p:txBody>
          <a:bodyPr/>
          <a:lstStyle/>
          <a:p>
            <a:pPr algn="ctr"/>
            <a:r>
              <a:rPr lang="en-IN" b="1" dirty="0"/>
              <a:t>Equal Error Rate (EER)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The point where False Accept Rate equals False Reject Rate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46711"/>
            <a:ext cx="9676015" cy="498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29"/>
            <a:ext cx="10515600" cy="748780"/>
          </a:xfrm>
        </p:spPr>
        <p:txBody>
          <a:bodyPr/>
          <a:lstStyle/>
          <a:p>
            <a:r>
              <a:rPr lang="en-US" b="1" dirty="0"/>
              <a:t>Acquisition Time to Verification (ATV)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48151"/>
            <a:ext cx="10515600" cy="542881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Total time from biometric presentation to verification decision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796" y="1812175"/>
            <a:ext cx="8794866" cy="473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0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09051"/>
          </a:xfrm>
        </p:spPr>
        <p:txBody>
          <a:bodyPr/>
          <a:lstStyle/>
          <a:p>
            <a:pPr algn="ctr"/>
            <a:r>
              <a:rPr lang="en-IN" b="1" dirty="0"/>
              <a:t>Performance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8022"/>
            <a:ext cx="10515600" cy="537894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Fundamental Challenge</a:t>
            </a:r>
          </a:p>
          <a:p>
            <a:r>
              <a:rPr lang="en-US" dirty="0"/>
              <a:t>Security vs. Usability Trade-off: FAR and FRR are inversely </a:t>
            </a:r>
            <a:r>
              <a:rPr lang="en-US" dirty="0" smtClean="0"/>
              <a:t>related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28554"/>
            <a:ext cx="9785465" cy="480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1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132"/>
            <a:ext cx="10515600" cy="1308303"/>
          </a:xfrm>
        </p:spPr>
        <p:txBody>
          <a:bodyPr/>
          <a:lstStyle/>
          <a:p>
            <a:pPr algn="ctr"/>
            <a:r>
              <a:rPr lang="en-IN" b="1" dirty="0"/>
              <a:t>Applications of Biometric Systems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4276"/>
            <a:ext cx="10515600" cy="561940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Access Control</a:t>
            </a:r>
          </a:p>
          <a:p>
            <a:pPr lvl="1"/>
            <a:r>
              <a:rPr lang="en-US" dirty="0"/>
              <a:t>Building access, computer login, vehicle </a:t>
            </a:r>
            <a:r>
              <a:rPr lang="en-US" dirty="0" smtClean="0"/>
              <a:t>systems</a:t>
            </a:r>
            <a:endParaRPr lang="en-US" dirty="0"/>
          </a:p>
          <a:p>
            <a:r>
              <a:rPr lang="en-US" b="1" dirty="0"/>
              <a:t>Government</a:t>
            </a:r>
          </a:p>
          <a:p>
            <a:pPr lvl="1"/>
            <a:r>
              <a:rPr lang="en-US" dirty="0"/>
              <a:t>National ID, passports, voting, border control</a:t>
            </a:r>
          </a:p>
          <a:p>
            <a:r>
              <a:rPr lang="en-IN" b="1" dirty="0"/>
              <a:t>Financial Services</a:t>
            </a:r>
          </a:p>
          <a:p>
            <a:pPr lvl="1"/>
            <a:r>
              <a:rPr lang="en-IN" dirty="0"/>
              <a:t>ATM, mobile banking, fraud prevention</a:t>
            </a:r>
          </a:p>
          <a:p>
            <a:r>
              <a:rPr lang="en-US" b="1" dirty="0"/>
              <a:t>Healthcare</a:t>
            </a:r>
          </a:p>
          <a:p>
            <a:pPr lvl="1"/>
            <a:r>
              <a:rPr lang="en-US" dirty="0"/>
              <a:t>Patient ID, record access, drug </a:t>
            </a:r>
            <a:r>
              <a:rPr lang="en-US" dirty="0" smtClean="0"/>
              <a:t>monitoring</a:t>
            </a:r>
          </a:p>
          <a:p>
            <a:r>
              <a:rPr lang="en-US" b="1" dirty="0"/>
              <a:t>Time &amp; Attendance</a:t>
            </a:r>
          </a:p>
          <a:p>
            <a:pPr lvl="1"/>
            <a:r>
              <a:rPr lang="en-US" dirty="0"/>
              <a:t>Employee tracking, payroll </a:t>
            </a:r>
            <a:r>
              <a:rPr lang="en-US" dirty="0" smtClean="0"/>
              <a:t>integration</a:t>
            </a:r>
          </a:p>
          <a:p>
            <a:r>
              <a:rPr lang="en-US" b="1" dirty="0"/>
              <a:t>Mobile/Consumer</a:t>
            </a:r>
          </a:p>
          <a:p>
            <a:pPr lvl="1"/>
            <a:r>
              <a:rPr lang="en-US" dirty="0"/>
              <a:t>Smartphone unlock, payments, </a:t>
            </a:r>
            <a:r>
              <a:rPr lang="en-US" dirty="0" smtClean="0"/>
              <a:t>apps</a:t>
            </a:r>
          </a:p>
          <a:p>
            <a:r>
              <a:rPr lang="en-IN" b="1" dirty="0"/>
              <a:t> Law Enforcement</a:t>
            </a:r>
          </a:p>
          <a:p>
            <a:pPr lvl="1"/>
            <a:r>
              <a:rPr lang="en-IN" dirty="0"/>
              <a:t>Criminal ID, forensics, investigations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11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78"/>
            <a:ext cx="10515600" cy="892670"/>
          </a:xfrm>
        </p:spPr>
        <p:txBody>
          <a:bodyPr/>
          <a:lstStyle/>
          <a:p>
            <a:r>
              <a:rPr lang="en-US" b="1" dirty="0"/>
              <a:t>Access Control and Physical Security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942974"/>
            <a:ext cx="1031748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0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30"/>
            <a:ext cx="10515600" cy="831904"/>
          </a:xfrm>
        </p:spPr>
        <p:txBody>
          <a:bodyPr/>
          <a:lstStyle/>
          <a:p>
            <a:pPr algn="ctr"/>
            <a:r>
              <a:rPr lang="en-IN" b="1" dirty="0"/>
              <a:t>Security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4154"/>
            <a:ext cx="10515600" cy="5843846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Spoofing Attacks</a:t>
            </a:r>
          </a:p>
          <a:p>
            <a:pPr marL="0" indent="0">
              <a:buNone/>
            </a:pPr>
            <a:r>
              <a:rPr lang="en-IN" b="1" dirty="0"/>
              <a:t>Definition:</a:t>
            </a:r>
            <a:r>
              <a:rPr lang="en-IN" dirty="0"/>
              <a:t> Attempts to fool biometric sensors using fake traits</a:t>
            </a:r>
          </a:p>
          <a:p>
            <a:pPr lvl="1"/>
            <a:r>
              <a:rPr lang="en-IN" b="1" dirty="0"/>
              <a:t>Fingerprint:</a:t>
            </a:r>
            <a:r>
              <a:rPr lang="en-IN" dirty="0"/>
              <a:t> Silicone </a:t>
            </a:r>
            <a:r>
              <a:rPr lang="en-IN" dirty="0" err="1"/>
              <a:t>molds</a:t>
            </a:r>
            <a:r>
              <a:rPr lang="en-IN" dirty="0"/>
              <a:t>, printed patterns</a:t>
            </a:r>
          </a:p>
          <a:p>
            <a:pPr lvl="1"/>
            <a:r>
              <a:rPr lang="en-IN" b="1" dirty="0"/>
              <a:t>Face:</a:t>
            </a:r>
            <a:r>
              <a:rPr lang="en-IN" dirty="0"/>
              <a:t> Photos, videos, 3D masks</a:t>
            </a:r>
          </a:p>
          <a:p>
            <a:pPr lvl="1"/>
            <a:r>
              <a:rPr lang="en-IN" b="1" dirty="0"/>
              <a:t>Iris:</a:t>
            </a:r>
            <a:r>
              <a:rPr lang="en-IN" dirty="0"/>
              <a:t> Printed patterns, contact lenses</a:t>
            </a:r>
          </a:p>
          <a:p>
            <a:pPr lvl="1"/>
            <a:r>
              <a:rPr lang="en-IN" b="1" dirty="0"/>
              <a:t>Voice:</a:t>
            </a:r>
            <a:r>
              <a:rPr lang="en-IN" dirty="0"/>
              <a:t> Recorded audio, </a:t>
            </a:r>
            <a:r>
              <a:rPr lang="en-IN" dirty="0" smtClean="0"/>
              <a:t>synthesis</a:t>
            </a:r>
          </a:p>
          <a:p>
            <a:r>
              <a:rPr lang="en-US" b="1" dirty="0"/>
              <a:t> Template Security</a:t>
            </a:r>
          </a:p>
          <a:p>
            <a:pPr lvl="1"/>
            <a:r>
              <a:rPr lang="en-US" dirty="0"/>
              <a:t>Template theft from databases</a:t>
            </a:r>
          </a:p>
          <a:p>
            <a:pPr lvl="1"/>
            <a:r>
              <a:rPr lang="en-US" dirty="0"/>
              <a:t>Template modification or corruption</a:t>
            </a:r>
          </a:p>
          <a:p>
            <a:pPr lvl="1"/>
            <a:r>
              <a:rPr lang="en-US" dirty="0"/>
              <a:t>Cross-matching between systems</a:t>
            </a:r>
          </a:p>
          <a:p>
            <a:pPr lvl="1"/>
            <a:r>
              <a:rPr lang="en-US" dirty="0"/>
              <a:t>Biometric reconstruction from </a:t>
            </a:r>
            <a:r>
              <a:rPr lang="en-US" dirty="0" smtClean="0"/>
              <a:t>templates</a:t>
            </a:r>
          </a:p>
          <a:p>
            <a:r>
              <a:rPr lang="en-US" b="1" dirty="0"/>
              <a:t>Transmission Security</a:t>
            </a:r>
          </a:p>
          <a:p>
            <a:pPr lvl="1"/>
            <a:r>
              <a:rPr lang="en-US" dirty="0"/>
              <a:t>Man-in-the-middle attacks</a:t>
            </a:r>
          </a:p>
          <a:p>
            <a:pPr lvl="1"/>
            <a:r>
              <a:rPr lang="en-US" dirty="0"/>
              <a:t>Replay attacks with intercepted data</a:t>
            </a:r>
          </a:p>
          <a:p>
            <a:pPr lvl="1"/>
            <a:r>
              <a:rPr lang="en-US" dirty="0"/>
              <a:t>Protocol vulnerabilities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6296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30"/>
            <a:ext cx="10515600" cy="897770"/>
          </a:xfrm>
        </p:spPr>
        <p:txBody>
          <a:bodyPr/>
          <a:lstStyle/>
          <a:p>
            <a:pPr algn="ctr"/>
            <a:r>
              <a:rPr lang="en-IN" b="1" dirty="0" smtClean="0"/>
              <a:t>Security Countermeasures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77972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Anti-Spoofing Measures</a:t>
            </a:r>
          </a:p>
          <a:p>
            <a:r>
              <a:rPr lang="en-IN" b="1" dirty="0"/>
              <a:t>Liveness Detection:</a:t>
            </a:r>
            <a:r>
              <a:rPr lang="en-IN" dirty="0"/>
              <a:t> Pulse, blood flow, movement</a:t>
            </a:r>
          </a:p>
          <a:p>
            <a:r>
              <a:rPr lang="en-IN" b="1" dirty="0"/>
              <a:t>Multi-modal Systems:</a:t>
            </a:r>
            <a:r>
              <a:rPr lang="en-IN" dirty="0"/>
              <a:t> Multiple biometric traits</a:t>
            </a:r>
          </a:p>
          <a:p>
            <a:r>
              <a:rPr lang="en-IN" b="1" dirty="0"/>
              <a:t>Challenge-Response:</a:t>
            </a:r>
            <a:r>
              <a:rPr lang="en-IN" dirty="0"/>
              <a:t> Dynamic verification</a:t>
            </a:r>
          </a:p>
          <a:p>
            <a:r>
              <a:rPr lang="en-IN" b="1" dirty="0"/>
              <a:t>Advanced Sensors:</a:t>
            </a:r>
            <a:r>
              <a:rPr lang="en-IN" dirty="0"/>
              <a:t> 3D imaging, infrared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77981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Template Protection</a:t>
            </a:r>
          </a:p>
          <a:p>
            <a:r>
              <a:rPr lang="en-IN" b="1" dirty="0"/>
              <a:t>Encryption:</a:t>
            </a:r>
            <a:r>
              <a:rPr lang="en-IN" dirty="0"/>
              <a:t> Cryptographic protection</a:t>
            </a:r>
          </a:p>
          <a:p>
            <a:r>
              <a:rPr lang="en-IN" b="1" dirty="0" err="1"/>
              <a:t>Cancelable</a:t>
            </a:r>
            <a:r>
              <a:rPr lang="en-IN" b="1" dirty="0"/>
              <a:t> Biometrics:</a:t>
            </a:r>
            <a:r>
              <a:rPr lang="en-IN" dirty="0"/>
              <a:t> Irreversible transforms</a:t>
            </a:r>
          </a:p>
          <a:p>
            <a:r>
              <a:rPr lang="en-IN" b="1" dirty="0"/>
              <a:t>Biometric Cryptosystems:</a:t>
            </a:r>
            <a:r>
              <a:rPr lang="en-IN" dirty="0"/>
              <a:t> Key integration</a:t>
            </a:r>
          </a:p>
          <a:p>
            <a:r>
              <a:rPr lang="en-IN" b="1" dirty="0"/>
              <a:t>Standards:</a:t>
            </a:r>
            <a:r>
              <a:rPr lang="en-IN" dirty="0"/>
              <a:t> ISO/IEC 24745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45" y="4904509"/>
            <a:ext cx="8562110" cy="195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8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64276"/>
          </a:xfrm>
        </p:spPr>
        <p:txBody>
          <a:bodyPr/>
          <a:lstStyle/>
          <a:p>
            <a:pPr algn="ctr"/>
            <a:r>
              <a:rPr lang="en-IN" b="1" dirty="0"/>
              <a:t>Privacy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0655"/>
            <a:ext cx="10515600" cy="558615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Data </a:t>
            </a:r>
            <a:r>
              <a:rPr lang="en-US" b="1" dirty="0"/>
              <a:t>Collection and Storage</a:t>
            </a:r>
          </a:p>
          <a:p>
            <a:pPr lvl="1"/>
            <a:r>
              <a:rPr lang="en-US" dirty="0"/>
              <a:t>Excessive data collection beyond requirements</a:t>
            </a:r>
          </a:p>
          <a:p>
            <a:pPr lvl="1"/>
            <a:r>
              <a:rPr lang="en-US" dirty="0"/>
              <a:t>Indefinite storage of biometric data</a:t>
            </a:r>
          </a:p>
          <a:p>
            <a:pPr lvl="1"/>
            <a:r>
              <a:rPr lang="en-US" dirty="0"/>
              <a:t>Lack of user consent and awareness</a:t>
            </a:r>
          </a:p>
          <a:p>
            <a:pPr lvl="1"/>
            <a:r>
              <a:rPr lang="en-US" dirty="0"/>
              <a:t>Secondary use of collected </a:t>
            </a:r>
            <a:r>
              <a:rPr lang="en-US" dirty="0" smtClean="0"/>
              <a:t>data</a:t>
            </a:r>
          </a:p>
          <a:p>
            <a:r>
              <a:rPr lang="en-US" b="1" dirty="0"/>
              <a:t>Surveillance and Tracking</a:t>
            </a:r>
          </a:p>
          <a:p>
            <a:pPr lvl="1"/>
            <a:r>
              <a:rPr lang="en-US" dirty="0"/>
              <a:t>Covert identification in public spaces</a:t>
            </a:r>
          </a:p>
          <a:p>
            <a:pPr lvl="1"/>
            <a:r>
              <a:rPr lang="en-US" dirty="0"/>
              <a:t>Cross-system tracking and profiling</a:t>
            </a:r>
          </a:p>
          <a:p>
            <a:pPr lvl="1"/>
            <a:r>
              <a:rPr lang="en-US" dirty="0"/>
              <a:t>Government surveillance programs</a:t>
            </a:r>
          </a:p>
          <a:p>
            <a:pPr lvl="1"/>
            <a:r>
              <a:rPr lang="en-US" dirty="0"/>
              <a:t>Commercial tracking for </a:t>
            </a:r>
            <a:r>
              <a:rPr lang="en-US" dirty="0" smtClean="0"/>
              <a:t>marketing</a:t>
            </a:r>
          </a:p>
          <a:p>
            <a:r>
              <a:rPr lang="en-IN" b="1" dirty="0"/>
              <a:t>Function Creep</a:t>
            </a:r>
          </a:p>
          <a:p>
            <a:pPr marL="0" indent="0">
              <a:buNone/>
            </a:pPr>
            <a:r>
              <a:rPr lang="en-IN" b="1" dirty="0"/>
              <a:t>Definition:</a:t>
            </a:r>
            <a:r>
              <a:rPr lang="en-IN" dirty="0"/>
              <a:t> Gradual expansion beyond original purpose</a:t>
            </a:r>
          </a:p>
          <a:p>
            <a:pPr lvl="1"/>
            <a:r>
              <a:rPr lang="en-IN" dirty="0"/>
              <a:t>Attendance → Performance monitoring</a:t>
            </a:r>
          </a:p>
          <a:p>
            <a:pPr lvl="1"/>
            <a:r>
              <a:rPr lang="en-IN" dirty="0"/>
              <a:t>Access control → </a:t>
            </a:r>
            <a:r>
              <a:rPr lang="en-IN" dirty="0" err="1"/>
              <a:t>Behavioral</a:t>
            </a:r>
            <a:r>
              <a:rPr lang="en-IN" dirty="0"/>
              <a:t> analysis</a:t>
            </a:r>
          </a:p>
          <a:p>
            <a:pPr lvl="1"/>
            <a:r>
              <a:rPr lang="en-IN" dirty="0"/>
              <a:t>Verification → Continuous monitoring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62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1866</Words>
  <Application>Microsoft Office PowerPoint</Application>
  <PresentationFormat>Widescreen</PresentationFormat>
  <Paragraphs>200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Performance Measures in Biometric Systems</vt:lpstr>
      <vt:lpstr>Performance Measures Overview</vt:lpstr>
      <vt:lpstr>False Accept Rate (FAR)</vt:lpstr>
      <vt:lpstr>False Reject Rate (FRR)</vt:lpstr>
      <vt:lpstr>Failure to Enroll (FTE) Rate</vt:lpstr>
      <vt:lpstr>Equal Error Rate (EER)</vt:lpstr>
      <vt:lpstr>Acquisition Time to Verification (ATV)</vt:lpstr>
      <vt:lpstr>Performance Trade-offs</vt:lpstr>
      <vt:lpstr>Applications of Biometric Systems </vt:lpstr>
      <vt:lpstr>Access Control and Physical Security</vt:lpstr>
      <vt:lpstr>Security Vulnerabilities</vt:lpstr>
      <vt:lpstr>Security Countermeasures</vt:lpstr>
      <vt:lpstr>Privacy Concerns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Measures in Biometric Systems</dc:title>
  <dc:creator>Microsoft account</dc:creator>
  <cp:lastModifiedBy>Microsoft account</cp:lastModifiedBy>
  <cp:revision>10</cp:revision>
  <dcterms:created xsi:type="dcterms:W3CDTF">2026-08-12T19:14:43Z</dcterms:created>
  <dcterms:modified xsi:type="dcterms:W3CDTF">2026-10-01T13:18:42Z</dcterms:modified>
</cp:coreProperties>
</file>